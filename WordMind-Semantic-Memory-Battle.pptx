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Azeret Mono" panose="020B0604020202020204" charset="0"/>
      <p:regular r:id="rId11"/>
    </p:embeddedFont>
    <p:embeddedFont>
      <p:font typeface="Azeret Mono Bold" panose="020B0604020202020204" charset="0"/>
      <p:regular r:id="rId12"/>
    </p:embeddedFont>
    <p:embeddedFont>
      <p:font typeface="Azeret Mono Medium" panose="020B0604020202020204" charset="0"/>
      <p:regular r:id="rId13"/>
    </p:embeddedFont>
    <p:embeddedFont>
      <p:font typeface="Krona One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</p:embeddedFont>
    <p:embeddedFont>
      <p:font typeface="Open Sans Bold" panose="020B0806030504020204" pitchFamily="34" charset="0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504"/>
    <a:srgbClr val="253122"/>
    <a:srgbClr val="004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77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4F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253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870585"/>
            <a:ext cx="76134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5156" y="1202523"/>
            <a:ext cx="7003875" cy="2098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WordMind —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kern="100" spc="-216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Semantic Memory Battle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65156" y="3448447"/>
            <a:ext cx="7003875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interactive word association game powered by natural language 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5461000"/>
            <a:ext cx="6495887" cy="5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Student: MAHI PANCHAL, JIYA VYAS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EC7F7-8D11-6BCE-53F9-689759B795FD}"/>
              </a:ext>
            </a:extLst>
          </p:cNvPr>
          <p:cNvSpPr/>
          <p:nvPr/>
        </p:nvSpPr>
        <p:spPr>
          <a:xfrm>
            <a:off x="10998450" y="6322979"/>
            <a:ext cx="1167319" cy="496921"/>
          </a:xfrm>
          <a:prstGeom prst="rect">
            <a:avLst/>
          </a:prstGeom>
          <a:solidFill>
            <a:srgbClr val="0205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47071"/>
            <a:ext cx="447544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941671"/>
            <a:ext cx="3865863" cy="246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Word association is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easy to play,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hard to judge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4594542"/>
            <a:ext cx="386586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 can connect words that spelling never will.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706" y="504627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51706" y="1426012"/>
            <a:ext cx="543040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Rules are manual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151706" y="1917621"/>
            <a:ext cx="543040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word games often depend on manually defined rules or basic word matching.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706" y="2734667"/>
            <a:ext cx="215895" cy="215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51706" y="3332202"/>
            <a:ext cx="543040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Spelling misses meaning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151706" y="3823811"/>
            <a:ext cx="543040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“doctor” and “hospital” are not character matches, but they express related meaning.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706" y="4640858"/>
            <a:ext cx="215895" cy="215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51706" y="5238393"/>
            <a:ext cx="543040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WordMind measures the link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151706" y="5730002"/>
            <a:ext cx="543040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 makes the relationship semantic, measurable, and interactive.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348E3A-18CB-D13C-CC02-D0C489CDBD38}"/>
              </a:ext>
            </a:extLst>
          </p:cNvPr>
          <p:cNvSpPr/>
          <p:nvPr/>
        </p:nvSpPr>
        <p:spPr>
          <a:xfrm>
            <a:off x="10943617" y="6322979"/>
            <a:ext cx="1167319" cy="496921"/>
          </a:xfrm>
          <a:prstGeom prst="rect">
            <a:avLst/>
          </a:prstGeom>
          <a:solidFill>
            <a:srgbClr val="004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PROJECT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project turns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meaning</a:t>
            </a: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 into a game mechanic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80220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52355"/>
            <a:ext cx="525766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Browser-based word association game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9585" y="3490635"/>
            <a:ext cx="548626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one human and AI opponents.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080220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4442" y="2652355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Represent word meaning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324442" y="3143964"/>
            <a:ext cx="525766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pretrained sentence embeddings.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258171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4830306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Measure relatedness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09585" y="5321915"/>
            <a:ext cx="548626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cosine similarity.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4258171"/>
            <a:ext cx="431789" cy="431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4442" y="4830306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Support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324442" y="5321915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Difficulty, timers, lives, duplicate detection, hints, and an evaluation module.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089498" y="2080220"/>
            <a:ext cx="12700" cy="1949351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7" name="Shape 11"/>
          <p:cNvSpPr/>
          <p:nvPr/>
        </p:nvSpPr>
        <p:spPr>
          <a:xfrm>
            <a:off x="609585" y="4023221"/>
            <a:ext cx="5486263" cy="127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4029571"/>
            <a:ext cx="12700" cy="1915716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5848" y="4023221"/>
            <a:ext cx="5486263" cy="1270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50A101-5902-8B18-333C-D98AEA02A6DE}"/>
              </a:ext>
            </a:extLst>
          </p:cNvPr>
          <p:cNvSpPr/>
          <p:nvPr/>
        </p:nvSpPr>
        <p:spPr>
          <a:xfrm>
            <a:off x="10998450" y="6322979"/>
            <a:ext cx="1167319" cy="496921"/>
          </a:xfrm>
          <a:prstGeom prst="rect">
            <a:avLst/>
          </a:prstGeom>
          <a:solidFill>
            <a:srgbClr val="253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13470"/>
            <a:ext cx="4407683" cy="227320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587055"/>
            <a:ext cx="4724282" cy="26574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5496" y="4915793"/>
            <a:ext cx="537928" cy="438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Load the NLP model in the browser and warm the vocabulary cache</a:t>
            </a:r>
            <a:endParaRPr lang="en-US" sz="500" dirty="0"/>
          </a:p>
        </p:txBody>
      </p:sp>
      <p:sp>
        <p:nvSpPr>
          <p:cNvPr id="5" name="Text 1"/>
          <p:cNvSpPr/>
          <p:nvPr/>
        </p:nvSpPr>
        <p:spPr>
          <a:xfrm>
            <a:off x="1417831" y="4918598"/>
            <a:ext cx="487339" cy="378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Start a game with one human and AI opponents</a:t>
            </a:r>
            <a:endParaRPr lang="en-US" sz="500" dirty="0"/>
          </a:p>
        </p:txBody>
      </p:sp>
      <p:sp>
        <p:nvSpPr>
          <p:cNvPr id="6" name="Text 2"/>
          <p:cNvSpPr/>
          <p:nvPr/>
        </p:nvSpPr>
        <p:spPr>
          <a:xfrm>
            <a:off x="2073817" y="4914661"/>
            <a:ext cx="457960" cy="254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Submit a word related to the current word</a:t>
            </a:r>
            <a:endParaRPr lang="en-US" sz="450" dirty="0"/>
          </a:p>
        </p:txBody>
      </p:sp>
      <p:sp>
        <p:nvSpPr>
          <p:cNvPr id="7" name="Text 3"/>
          <p:cNvSpPr/>
          <p:nvPr/>
        </p:nvSpPr>
        <p:spPr>
          <a:xfrm>
            <a:off x="2734970" y="4914661"/>
            <a:ext cx="457960" cy="3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Check validity, repetition, and semantic similarity</a:t>
            </a:r>
            <a:endParaRPr lang="en-US" sz="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19B31B-3043-4DBE-EDEB-1949F5C6D599}"/>
              </a:ext>
            </a:extLst>
          </p:cNvPr>
          <p:cNvSpPr/>
          <p:nvPr/>
        </p:nvSpPr>
        <p:spPr>
          <a:xfrm>
            <a:off x="11024681" y="6322979"/>
            <a:ext cx="1167319" cy="496921"/>
          </a:xfrm>
          <a:prstGeom prst="rect">
            <a:avLst/>
          </a:prstGeom>
          <a:solidFill>
            <a:srgbClr val="004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browser contains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full NLP stack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80268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3770" y="2093555"/>
            <a:ext cx="467348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HTML + CSS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193770" y="2585164"/>
            <a:ext cx="467348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Interface, page structure, responsive visual design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080268"/>
            <a:ext cx="431789" cy="431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8627" y="2093555"/>
            <a:ext cx="467348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JavaScript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908627" y="2585164"/>
            <a:ext cx="467348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Turns, timers, lives, game engine, AI decisions, and evaluation logic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665784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93770" y="3679071"/>
            <a:ext cx="467348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Transformers.js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193770" y="4170680"/>
            <a:ext cx="490207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Loads and runs the NLP model in the browser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2" y="3665784"/>
            <a:ext cx="431789" cy="431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08627" y="3679071"/>
            <a:ext cx="467348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ONNX + WebAssembly/WebGPU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908627" y="4517350"/>
            <a:ext cx="467348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 inference were supported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5284934"/>
            <a:ext cx="431789" cy="431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93770" y="5298222"/>
            <a:ext cx="1038834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Hugging Face CDN (all-MiniLM-L6)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1193770" y="5789831"/>
            <a:ext cx="1038834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download on initial load; no custom backend or API key for NLP inference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6089498" y="2080220"/>
            <a:ext cx="12700" cy="1356916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20" name="Shape 13"/>
          <p:cNvSpPr/>
          <p:nvPr/>
        </p:nvSpPr>
        <p:spPr>
          <a:xfrm>
            <a:off x="609585" y="343078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21" name="Shape 14"/>
          <p:cNvSpPr/>
          <p:nvPr/>
        </p:nvSpPr>
        <p:spPr>
          <a:xfrm>
            <a:off x="6089498" y="3437136"/>
            <a:ext cx="12700" cy="1619151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22" name="Shape 15"/>
          <p:cNvSpPr/>
          <p:nvPr/>
        </p:nvSpPr>
        <p:spPr>
          <a:xfrm>
            <a:off x="6095848" y="3430786"/>
            <a:ext cx="5486263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23" name="Shape 16"/>
          <p:cNvSpPr/>
          <p:nvPr/>
        </p:nvSpPr>
        <p:spPr>
          <a:xfrm>
            <a:off x="609585" y="5049937"/>
            <a:ext cx="10972526" cy="12700"/>
          </a:xfrm>
          <a:prstGeom prst="rect">
            <a:avLst/>
          </a:prstGeom>
          <a:solidFill>
            <a:srgbClr val="2F6B61"/>
          </a:solidFill>
          <a:ln/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A94E65-3A9D-BB56-04FA-932D3965DBB8}"/>
              </a:ext>
            </a:extLst>
          </p:cNvPr>
          <p:cNvSpPr/>
          <p:nvPr/>
        </p:nvSpPr>
        <p:spPr>
          <a:xfrm>
            <a:off x="10998450" y="6322979"/>
            <a:ext cx="1167319" cy="496921"/>
          </a:xfrm>
          <a:prstGeom prst="rect">
            <a:avLst/>
          </a:prstGeom>
          <a:solidFill>
            <a:srgbClr val="004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533386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REPRESENTATION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4724282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Embeddings give each word a position in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meaning-space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070344"/>
            <a:ext cx="472428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pretrained Xenova/all-MiniLM-L6-v2 model turns words into numerical vectors.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894376"/>
            <a:ext cx="472428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384-dimensional embeddings · mean pooling · L2 normalization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4446905"/>
            <a:ext cx="472428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vector captures useful semantic relationships, but it does not understand words exactly like a human.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7828" y="1175087"/>
            <a:ext cx="4724282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Example neighborhood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7828" y="1663998"/>
            <a:ext cx="4724282" cy="770235"/>
          </a:xfrm>
          <a:prstGeom prst="rect">
            <a:avLst/>
          </a:prstGeom>
          <a:solidFill>
            <a:srgbClr val="253122"/>
          </a:solidFill>
          <a:ln/>
        </p:spPr>
      </p:sp>
      <p:sp>
        <p:nvSpPr>
          <p:cNvPr id="9" name="Text 7"/>
          <p:cNvSpPr/>
          <p:nvPr/>
        </p:nvSpPr>
        <p:spPr>
          <a:xfrm>
            <a:off x="7086423" y="1895296"/>
            <a:ext cx="449568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doctor</a:t>
            </a: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numerical vector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7828" y="2586633"/>
            <a:ext cx="4724282" cy="770235"/>
          </a:xfrm>
          <a:prstGeom prst="rect">
            <a:avLst/>
          </a:prstGeom>
          <a:solidFill>
            <a:srgbClr val="253122"/>
          </a:solidFill>
          <a:ln/>
        </p:spPr>
      </p:sp>
      <p:sp>
        <p:nvSpPr>
          <p:cNvPr id="11" name="Text 9"/>
          <p:cNvSpPr/>
          <p:nvPr/>
        </p:nvSpPr>
        <p:spPr>
          <a:xfrm>
            <a:off x="7086423" y="2817931"/>
            <a:ext cx="449568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hospital</a:t>
            </a: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numerical vector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7828" y="3509268"/>
            <a:ext cx="4724282" cy="770235"/>
          </a:xfrm>
          <a:prstGeom prst="rect">
            <a:avLst/>
          </a:prstGeom>
          <a:solidFill>
            <a:srgbClr val="253122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423" y="3740567"/>
            <a:ext cx="449568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nurse</a:t>
            </a: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numerical vector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7828" y="4473178"/>
            <a:ext cx="4724282" cy="1222970"/>
          </a:xfrm>
          <a:prstGeom prst="rect">
            <a:avLst/>
          </a:prstGeom>
          <a:solidFill>
            <a:srgbClr val="F58E84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423" y="4717971"/>
            <a:ext cx="426709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Semantic neighborhood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86423" y="5157212"/>
            <a:ext cx="449568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doctor · hospital · nurse</a:t>
            </a:r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FFFFB1-D84B-6A6F-7878-739D1CFBA8FC}"/>
              </a:ext>
            </a:extLst>
          </p:cNvPr>
          <p:cNvSpPr/>
          <p:nvPr/>
        </p:nvSpPr>
        <p:spPr>
          <a:xfrm>
            <a:off x="10998450" y="6322979"/>
            <a:ext cx="1167319" cy="496921"/>
          </a:xfrm>
          <a:prstGeom prst="rect">
            <a:avLst/>
          </a:prstGeom>
          <a:solidFill>
            <a:srgbClr val="004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545332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COMPARISON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4843738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Cosine similarity compares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direction,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not spelling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045420"/>
            <a:ext cx="4843738" cy="674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805932"/>
            <a:ext cx="4843738" cy="129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100" b="1" kern="100" spc="22" dirty="0">
                <a:solidFill>
                  <a:srgbClr val="BFD3C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A and B:</a:t>
            </a: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 embedding vectors for two words</a:t>
            </a:r>
            <a:endParaRPr lang="en-US" sz="1100" dirty="0"/>
          </a:p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100" b="1" kern="100" spc="22" dirty="0">
                <a:solidFill>
                  <a:srgbClr val="BFD3C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Dot product:</a:t>
            </a: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 how strongly the vectors point together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kern="100" spc="22" dirty="0">
                <a:solidFill>
                  <a:srgbClr val="BFD3CB"/>
                </a:solidFill>
                <a:latin typeface="Azeret Mono Bold" pitchFamily="34" charset="0"/>
                <a:ea typeface="Azeret Mono Bold" pitchFamily="34" charset="-122"/>
                <a:cs typeface="Azeret Mono Bold" pitchFamily="34" charset="-120"/>
              </a:rPr>
              <a:t>Vector magnitudes:</a:t>
            </a: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 normalize scale so the comparison focuses on direction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82" y="1715532"/>
            <a:ext cx="44525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Acceptance thresholds</a:t>
            </a:r>
            <a:endParaRPr lang="en-US" sz="2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582" y="2204442"/>
            <a:ext cx="4452528" cy="22129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29582" y="4618077"/>
            <a:ext cx="445252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Related words can produce stronger similarity than unrelated words, but the actual score depends on the model and pair.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1BCB0D-5F3D-CC43-1826-9D64C1C46EC1}"/>
              </a:ext>
            </a:extLst>
          </p:cNvPr>
          <p:cNvSpPr/>
          <p:nvPr/>
        </p:nvSpPr>
        <p:spPr>
          <a:xfrm>
            <a:off x="10998450" y="6322979"/>
            <a:ext cx="1167319" cy="496921"/>
          </a:xfrm>
          <a:prstGeom prst="rect">
            <a:avLst/>
          </a:prstGeom>
          <a:solidFill>
            <a:srgbClr val="004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EVALUATION MODULE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1118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NLP Lab measures</a:t>
            </a:r>
            <a:endParaRPr lang="en-US" sz="36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10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</a:t>
            </a:r>
            <a:r>
              <a:rPr lang="en-US" sz="3600" kern="100" spc="-10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decision rule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82919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tests the threshold, not a claimed experimental score.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976958"/>
              </p:ext>
            </p:extLst>
          </p:nvPr>
        </p:nvGraphicFramePr>
        <p:xfrm>
          <a:off x="609585" y="2586930"/>
          <a:ext cx="10972525" cy="3281477"/>
        </p:xfrm>
        <a:graphic>
          <a:graphicData uri="http://schemas.openxmlformats.org/drawingml/2006/table">
            <a:tbl>
              <a:tblPr/>
              <a:tblGrid>
                <a:gridCol w="285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 element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Implemented plan and reported result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Dataset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Manually labelled dataset: 65-word pairs — 43 related and 22 unrelated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Threshold sweep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Evaluate cosine thresholds from 0.20 to 0.70 in 0.05 increments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Metrics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Report accuracy, precision, recall, and F1-score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Baseline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Compare with character-level Jaccard similarity as an evaluation-only baseline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6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Output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Identify the best F1 threshold and export evaluation results as CSV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31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069151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22" dirty="0">
                <a:solidFill>
                  <a:srgbClr val="BFD3CB"/>
                </a:solidFill>
                <a:latin typeface="Azeret Mono" pitchFamily="34" charset="0"/>
                <a:ea typeface="Azeret Mono" pitchFamily="34" charset="-122"/>
                <a:cs typeface="Azeret Mono" pitchFamily="34" charset="-120"/>
              </a:rPr>
              <a:t>No experimental score is claimed here without measured results.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80EF6-F2C5-D6A1-267B-17D24B1E4050}"/>
              </a:ext>
            </a:extLst>
          </p:cNvPr>
          <p:cNvSpPr/>
          <p:nvPr/>
        </p:nvSpPr>
        <p:spPr>
          <a:xfrm>
            <a:off x="10998450" y="6322979"/>
            <a:ext cx="1167319" cy="496921"/>
          </a:xfrm>
          <a:prstGeom prst="rect">
            <a:avLst/>
          </a:prstGeom>
          <a:solidFill>
            <a:srgbClr val="2531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497</Words>
  <Application>Microsoft Office PowerPoint</Application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Krona One</vt:lpstr>
      <vt:lpstr>Open Sans Bold</vt:lpstr>
      <vt:lpstr>Open Sans SemiBold</vt:lpstr>
      <vt:lpstr>Azeret Mono Bold</vt:lpstr>
      <vt:lpstr>Arial</vt:lpstr>
      <vt:lpstr>Open Sans</vt:lpstr>
      <vt:lpstr>Azeret Mono Medium</vt:lpstr>
      <vt:lpstr>Azeret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JIYA VYAS</dc:creator>
  <cp:lastModifiedBy>jiyalvyas561@outlook.com</cp:lastModifiedBy>
  <cp:revision>2</cp:revision>
  <dcterms:created xsi:type="dcterms:W3CDTF">2026-10-09T10:04:40Z</dcterms:created>
  <dcterms:modified xsi:type="dcterms:W3CDTF">2026-10-09T10:37:38Z</dcterms:modified>
</cp:coreProperties>
</file>